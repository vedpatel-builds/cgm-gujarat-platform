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BF6611-BE6E-4C79-B65C-6ABA4A0A644B}" v="5" dt="2026-09-12T15:53:20.67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 Patel" userId="72c873e02d259791" providerId="LiveId" clId="{968F521A-9DD3-4B73-B016-E72727D26F8D}"/>
    <pc:docChg chg="custSel modSld">
      <pc:chgData name="Ved Patel" userId="72c873e02d259791" providerId="LiveId" clId="{968F521A-9DD3-4B73-B016-E72727D26F8D}" dt="2026-09-12T15:53:07.642" v="36" actId="20577"/>
      <pc:docMkLst>
        <pc:docMk/>
      </pc:docMkLst>
      <pc:sldChg chg="addSp delSp modSp mod">
        <pc:chgData name="Ved Patel" userId="72c873e02d259791" providerId="LiveId" clId="{968F521A-9DD3-4B73-B016-E72727D26F8D}" dt="2026-09-12T15:51:21.515" v="13" actId="1076"/>
        <pc:sldMkLst>
          <pc:docMk/>
          <pc:sldMk cId="0" sldId="262"/>
        </pc:sldMkLst>
        <pc:spChg chg="add mod">
          <ac:chgData name="Ved Patel" userId="72c873e02d259791" providerId="LiveId" clId="{968F521A-9DD3-4B73-B016-E72727D26F8D}" dt="2026-09-12T15:51:16.898" v="12" actId="14100"/>
          <ac:spMkLst>
            <pc:docMk/>
            <pc:sldMk cId="0" sldId="262"/>
            <ac:spMk id="4" creationId="{78578745-3233-E2C4-2AF4-55BA57C68D3F}"/>
          </ac:spMkLst>
        </pc:spChg>
        <pc:picChg chg="add mod">
          <ac:chgData name="Ved Patel" userId="72c873e02d259791" providerId="LiveId" clId="{968F521A-9DD3-4B73-B016-E72727D26F8D}" dt="2026-09-12T15:51:21.515" v="13" actId="1076"/>
          <ac:picMkLst>
            <pc:docMk/>
            <pc:sldMk cId="0" sldId="262"/>
            <ac:picMk id="3" creationId="{85AA6966-5E0C-28E5-EF9D-562AAF3E1584}"/>
          </ac:picMkLst>
        </pc:picChg>
        <pc:picChg chg="del">
          <ac:chgData name="Ved Patel" userId="72c873e02d259791" providerId="LiveId" clId="{968F521A-9DD3-4B73-B016-E72727D26F8D}" dt="2026-09-12T15:48:39.541" v="2" actId="478"/>
          <ac:picMkLst>
            <pc:docMk/>
            <pc:sldMk cId="0" sldId="262"/>
            <ac:picMk id="5" creationId="{C2D0F8E8-6DC8-FDB9-85B9-17C9BF36E167}"/>
          </ac:picMkLst>
        </pc:picChg>
      </pc:sldChg>
      <pc:sldChg chg="modSp mod">
        <pc:chgData name="Ved Patel" userId="72c873e02d259791" providerId="LiveId" clId="{968F521A-9DD3-4B73-B016-E72727D26F8D}" dt="2026-09-12T15:53:07.642" v="36" actId="20577"/>
        <pc:sldMkLst>
          <pc:docMk/>
          <pc:sldMk cId="3764405840" sldId="278"/>
        </pc:sldMkLst>
        <pc:spChg chg="mod">
          <ac:chgData name="Ved Patel" userId="72c873e02d259791" providerId="LiveId" clId="{968F521A-9DD3-4B73-B016-E72727D26F8D}" dt="2026-09-12T15:53:07.642" v="36" actId="20577"/>
          <ac:spMkLst>
            <pc:docMk/>
            <pc:sldMk cId="3764405840" sldId="278"/>
            <ac:spMk id="3" creationId="{4A7608B5-9906-EFCF-959A-E89FC2E3EE19}"/>
          </ac:spMkLst>
        </pc:spChg>
      </pc:sldChg>
      <pc:sldChg chg="addSp delSp modSp mod">
        <pc:chgData name="Ved Patel" userId="72c873e02d259791" providerId="LiveId" clId="{968F521A-9DD3-4B73-B016-E72727D26F8D}" dt="2026-09-12T15:48:33.473" v="1"/>
        <pc:sldMkLst>
          <pc:docMk/>
          <pc:sldMk cId="2772501912" sldId="279"/>
        </pc:sldMkLst>
        <pc:picChg chg="add mod">
          <ac:chgData name="Ved Patel" userId="72c873e02d259791" providerId="LiveId" clId="{968F521A-9DD3-4B73-B016-E72727D26F8D}" dt="2026-09-12T15:48:33.473" v="1"/>
          <ac:picMkLst>
            <pc:docMk/>
            <pc:sldMk cId="2772501912" sldId="279"/>
            <ac:picMk id="3" creationId="{69A0E637-42D7-B8EF-9D3E-17DFACE2E935}"/>
          </ac:picMkLst>
        </pc:picChg>
        <pc:picChg chg="del">
          <ac:chgData name="Ved Patel" userId="72c873e02d259791" providerId="LiveId" clId="{968F521A-9DD3-4B73-B016-E72727D26F8D}" dt="2026-09-12T15:48:32.568" v="0" actId="478"/>
          <ac:picMkLst>
            <pc:docMk/>
            <pc:sldMk cId="2772501912" sldId="279"/>
            <ac:picMk id="5" creationId="{7DE11856-525C-F4DE-7139-E727DB3A8B33}"/>
          </ac:picMkLst>
        </pc:picChg>
      </pc:sldChg>
      <pc:sldChg chg="modSp mod">
        <pc:chgData name="Ved Patel" userId="72c873e02d259791" providerId="LiveId" clId="{968F521A-9DD3-4B73-B016-E72727D26F8D}" dt="2026-09-12T15:52:33.478" v="25" actId="20578"/>
        <pc:sldMkLst>
          <pc:docMk/>
          <pc:sldMk cId="2605851928" sldId="287"/>
        </pc:sldMkLst>
        <pc:spChg chg="mod">
          <ac:chgData name="Ved Patel" userId="72c873e02d259791" providerId="LiveId" clId="{968F521A-9DD3-4B73-B016-E72727D26F8D}" dt="2026-09-12T15:52:33.478" v="25" actId="20578"/>
          <ac:spMkLst>
            <pc:docMk/>
            <pc:sldMk cId="2605851928" sldId="287"/>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vedpatel-builds/cgm-gujarat-platfor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edpatel-builds/cgm-gujarat-platfor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4466450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cap="none" dirty="0">
                          <a:solidFill>
                            <a:srgbClr val="000000"/>
                          </a:solidFill>
                          <a:effectLst/>
                          <a:latin typeface="Arial"/>
                          <a:ea typeface="Arial"/>
                          <a:cs typeface="Arial"/>
                          <a:sym typeface="Arial"/>
                        </a:rPr>
                        <a:t>Student Name</a:t>
                      </a:r>
                      <a:endParaRPr lang="en-IN" sz="2400" dirty="0">
                        <a:effectLst/>
                      </a:endParaRPr>
                    </a:p>
                    <a:p>
                      <a:pPr marL="0" marR="0" lvl="0" indent="0" algn="ctr" rtl="0">
                        <a:spcBef>
                          <a:spcPts val="0"/>
                        </a:spcBef>
                        <a:spcAft>
                          <a:spcPts val="0"/>
                        </a:spcAft>
                        <a:buNone/>
                      </a:pP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a:t>Ved Patel</a:t>
                      </a:r>
                    </a:p>
                    <a:p>
                      <a:pPr marL="0" marR="0" lvl="0" indent="0" algn="ctr"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vedpatel4050@gmail.com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dirty="0"/>
                        <a:t>9974781282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Economic Development / Agriculture</a:t>
            </a:r>
            <a:endParaRPr lang="en-IN" sz="2400" b="1"/>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Title – CGM Gujarat Platform: AI-Powered Cotton &amp; Groundnut Market Linkage</a:t>
            </a:r>
            <a:endParaRPr lang="en-IN" sz="2400" b="1"/>
          </a:p>
        </p:txBody>
      </p:sp>
      <p:pic>
        <p:nvPicPr>
          <p:cNvPr id="2" name="Google Shape;98;p2">
            <a:extLst>
              <a:ext uri="{FF2B5EF4-FFF2-40B4-BE49-F238E27FC236}">
                <a16:creationId xmlns:a16="http://schemas.microsoft.com/office/drawing/2014/main" id="{7EC5FB03-3C05-84A2-DB63-BDFB4C28DFBD}"/>
              </a:ext>
            </a:extLst>
          </p:cNvPr>
          <p:cNvPicPr preferRelativeResize="0"/>
          <p:nvPr/>
        </p:nvPicPr>
        <p:blipFill>
          <a:blip r:embed="rId3">
            <a:alphaModFix/>
          </a:blip>
          <a:srcRect/>
          <a:stretch/>
        </p:blipFill>
        <p:spPr>
          <a:xfrm>
            <a:off x="4191893" y="3661722"/>
            <a:ext cx="812725" cy="9628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6771084"/>
          </a:xfrm>
          <a:prstGeom prst="rect">
            <a:avLst/>
          </a:prstGeom>
          <a:noFill/>
        </p:spPr>
        <p:txBody>
          <a:bodyPr wrap="square" rtlCol="0">
            <a:spAutoFit/>
          </a:bodyPr>
          <a:lstStyle/>
          <a:p>
            <a:pPr fontAlgn="base"/>
            <a:r>
              <a:rPr lang="en-US" sz="1600" b="1" dirty="0"/>
              <a:t>Problem Statement : AI-Powered Cotton &amp; Groundnut Market Linkage Platform</a:t>
            </a:r>
            <a:r>
              <a:rPr lang="en-US" sz="1600" dirty="0"/>
              <a:t> </a:t>
            </a:r>
          </a:p>
          <a:p>
            <a:pPr fontAlgn="base"/>
            <a:endParaRPr lang="en-US" sz="1600" b="1" dirty="0"/>
          </a:p>
          <a:p>
            <a:pPr fontAlgn="base"/>
            <a:r>
              <a:rPr lang="en-US" sz="1600" b="1" dirty="0"/>
              <a:t>The Challenge</a:t>
            </a:r>
            <a:r>
              <a:rPr lang="en-US" sz="1600" dirty="0"/>
              <a:t> </a:t>
            </a:r>
          </a:p>
          <a:p>
            <a:pPr fontAlgn="base"/>
            <a:r>
              <a:rPr lang="en-US" sz="1600" dirty="0"/>
              <a:t>Gujarat is a leading producer of cotton and groundnut, yet farmers frequently face price exploitation by middlemen. Farmers lack access to </a:t>
            </a:r>
            <a:r>
              <a:rPr lang="en-US" sz="1600" b="1" dirty="0"/>
              <a:t>real-time mandi prices, direct market linkages,</a:t>
            </a:r>
            <a:r>
              <a:rPr lang="en-US" sz="1600" dirty="0"/>
              <a:t> and have limited bargaining power. Without </a:t>
            </a:r>
            <a:r>
              <a:rPr lang="en-US" sz="1600" b="1" dirty="0"/>
              <a:t>AI-driven price intelligence and direct connections</a:t>
            </a:r>
            <a:r>
              <a:rPr lang="en-US" sz="1600" dirty="0"/>
              <a:t>, farmers are unable to make informed selling and storage decisions. </a:t>
            </a:r>
          </a:p>
          <a:p>
            <a:pPr fontAlgn="base"/>
            <a:endParaRPr lang="en-US" sz="1600" dirty="0"/>
          </a:p>
          <a:p>
            <a:pPr fontAlgn="base"/>
            <a:r>
              <a:rPr lang="en-US" sz="1600" b="1" dirty="0"/>
              <a:t>The Objective</a:t>
            </a:r>
            <a:r>
              <a:rPr lang="en-US" sz="1600" dirty="0"/>
              <a:t> </a:t>
            </a:r>
          </a:p>
          <a:p>
            <a:pPr fontAlgn="base"/>
            <a:r>
              <a:rPr lang="en-US" sz="1600" dirty="0"/>
              <a:t>Create </a:t>
            </a:r>
            <a:r>
              <a:rPr lang="en-US" sz="1600" b="1" dirty="0"/>
              <a:t>Agentic AI solutions</a:t>
            </a:r>
            <a:r>
              <a:rPr lang="en-US" sz="1600" dirty="0"/>
              <a:t> that provide </a:t>
            </a:r>
            <a:r>
              <a:rPr lang="en-US" sz="1600" b="1" dirty="0"/>
              <a:t>real-time price intelligence</a:t>
            </a:r>
            <a:r>
              <a:rPr lang="en-US" sz="1600" dirty="0"/>
              <a:t>, connect farmers directly with buyers, and support informed selling and storage decisions. </a:t>
            </a:r>
          </a:p>
          <a:p>
            <a:pPr marL="285750" indent="-285750" fontAlgn="base">
              <a:buFont typeface="Arial" panose="020B0604020202020204" pitchFamily="34" charset="0"/>
              <a:buChar char="•"/>
            </a:pPr>
            <a:r>
              <a:rPr lang="en-US" sz="1600" b="1" dirty="0"/>
              <a:t>Mandi Price Forecasting Agent</a:t>
            </a:r>
            <a:r>
              <a:rPr lang="en-US" sz="1600" dirty="0"/>
              <a:t> – Predicts 7-day mandi price trends using 30-day historical data to guide SELL NOW / STORE / WAIT decisions. </a:t>
            </a:r>
          </a:p>
          <a:p>
            <a:pPr marL="285750" indent="-285750" fontAlgn="base">
              <a:buFont typeface="Arial" panose="020B0604020202020204" pitchFamily="34" charset="0"/>
              <a:buChar char="•"/>
            </a:pPr>
            <a:r>
              <a:rPr lang="en-US" sz="1600" b="1" dirty="0"/>
              <a:t>Direct Buyer-Farmer Matching Agent</a:t>
            </a:r>
            <a:r>
              <a:rPr lang="en-US" sz="1600" dirty="0"/>
              <a:t> – Scores and ranks farmer crop listings against buyer requirements for direct, middleman-free connections. </a:t>
            </a:r>
          </a:p>
          <a:p>
            <a:pPr marL="285750" indent="-285750" fontAlgn="base">
              <a:buFont typeface="Arial" panose="020B0604020202020204" pitchFamily="34" charset="0"/>
              <a:buChar char="•"/>
            </a:pPr>
            <a:r>
              <a:rPr lang="en-US" sz="1600" b="1" dirty="0"/>
              <a:t>Storage &amp; Selling Timing Advisor Agent</a:t>
            </a:r>
            <a:r>
              <a:rPr lang="en-US" sz="1600" dirty="0"/>
              <a:t> – Calculates net gain for 1–4 week storage scenarios and recommends optimal selling timing. </a:t>
            </a:r>
          </a:p>
          <a:p>
            <a:pPr marL="285750" indent="-285750" fontAlgn="base">
              <a:buFont typeface="Arial" panose="020B0604020202020204" pitchFamily="34" charset="0"/>
              <a:buChar char="•"/>
            </a:pPr>
            <a:r>
              <a:rPr lang="en-US" sz="1600" b="1" dirty="0"/>
              <a:t>Quality Grading Assistance Agent</a:t>
            </a:r>
            <a:r>
              <a:rPr lang="en-US" sz="1600" dirty="0"/>
              <a:t> – Grades crop quality (Grade A/B/C) using AI analysis of uploaded photos and farmer-provided notes. </a:t>
            </a:r>
          </a:p>
          <a:p>
            <a:pPr marL="285750" indent="-285750" fontAlgn="base">
              <a:buFont typeface="Arial" panose="020B0604020202020204" pitchFamily="34" charset="0"/>
              <a:buChar char="•"/>
            </a:pPr>
            <a:r>
              <a:rPr lang="en-US" sz="1600" b="1" dirty="0"/>
              <a:t>Farmer Income Dashboard Agent</a:t>
            </a:r>
            <a:r>
              <a:rPr lang="en-US" sz="1600" dirty="0"/>
              <a:t> – Summarizes earnings, inventory, and provides actionable financial insights for farmers. </a:t>
            </a:r>
          </a:p>
          <a:p>
            <a:pPr marL="285750" indent="-285750" fontAlgn="base">
              <a:buFont typeface="Arial" panose="020B0604020202020204" pitchFamily="34" charset="0"/>
              <a:buChar char="•"/>
            </a:pPr>
            <a:endParaRPr lang="en-US" sz="1600"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46575" y="856357"/>
            <a:ext cx="10607040" cy="6001643"/>
          </a:xfrm>
          <a:prstGeom prst="rect">
            <a:avLst/>
          </a:prstGeom>
          <a:noFill/>
        </p:spPr>
        <p:txBody>
          <a:bodyPr wrap="square" rtlCol="0">
            <a:spAutoFit/>
          </a:bodyPr>
          <a:lstStyle/>
          <a:p>
            <a:pPr fontAlgn="base"/>
            <a:endParaRPr lang="en-US" sz="1600" b="1" dirty="0"/>
          </a:p>
          <a:p>
            <a:r>
              <a:rPr lang="en-US" sz="1600" b="1" dirty="0"/>
              <a:t>Proposed Solution: CGM Gujarat Platform</a:t>
            </a:r>
          </a:p>
          <a:p>
            <a:r>
              <a:rPr lang="en-US" sz="1600" dirty="0"/>
              <a:t>The proposed solution is a </a:t>
            </a:r>
            <a:r>
              <a:rPr lang="en-US" sz="1600" b="1" dirty="0"/>
              <a:t>full-stack multi-agent AI platform</a:t>
            </a:r>
            <a:r>
              <a:rPr lang="en-US" sz="1600" dirty="0"/>
              <a:t> built using </a:t>
            </a:r>
            <a:r>
              <a:rPr lang="en-US" sz="1600" b="1" dirty="0"/>
              <a:t>IBM Bob (</a:t>
            </a:r>
            <a:r>
              <a:rPr lang="en-US" sz="1600" b="1" dirty="0" err="1"/>
              <a:t>LangFlow</a:t>
            </a:r>
            <a:r>
              <a:rPr lang="en-US" sz="1600" b="1" dirty="0"/>
              <a:t>), IBM Granite LLM, and IBM Cloud</a:t>
            </a:r>
            <a:r>
              <a:rPr lang="en-US" sz="1600" dirty="0"/>
              <a:t> to eliminate middlemen exploitation and connect Gujarat cotton &amp; groundnut farmers directly with buyers through AI-powered market intelligence.</a:t>
            </a:r>
          </a:p>
          <a:p>
            <a:r>
              <a:rPr lang="en-US" sz="1600" dirty="0"/>
              <a:t>The platform consists of three portals: a </a:t>
            </a:r>
            <a:r>
              <a:rPr lang="en-US" sz="1600" b="1" dirty="0"/>
              <a:t>Farmer Portal</a:t>
            </a:r>
            <a:r>
              <a:rPr lang="en-US" sz="1600" dirty="0"/>
              <a:t> (crop listings, mandi price charts, AI forecasts, buyer offers, income dashboard), a Buyer Portal (purchase requirements, AI-matched farmer listings, offer management), and an Admin Portal (user management, mandi price data, AI agent activity logs).</a:t>
            </a:r>
          </a:p>
          <a:p>
            <a:r>
              <a:rPr lang="en-US" sz="1600" dirty="0"/>
              <a:t>The system comprises five IBM Granite-powered AI agents:</a:t>
            </a:r>
          </a:p>
          <a:p>
            <a:r>
              <a:rPr lang="en-US" sz="1600" b="1" dirty="0"/>
              <a:t>Mandi Price Forecasting Agent</a:t>
            </a:r>
            <a:r>
              <a:rPr lang="en-US" sz="1600" dirty="0"/>
              <a:t> analyzes 30-day price history and predicts 7-day trends with SELL NOW / STORE / WAIT recommendations. </a:t>
            </a:r>
          </a:p>
          <a:p>
            <a:r>
              <a:rPr lang="en-US" sz="1600" b="1" dirty="0"/>
              <a:t>Buyer-Farmer Matching Agent</a:t>
            </a:r>
            <a:r>
              <a:rPr lang="en-US" sz="1600" dirty="0"/>
              <a:t> scores and ranks farmer crop listings against buyer requirements enabling direct, middleman-free trade. </a:t>
            </a:r>
          </a:p>
          <a:p>
            <a:r>
              <a:rPr lang="en-US" sz="1600" b="1" dirty="0"/>
              <a:t>Storage &amp; Selling Advisor Agent</a:t>
            </a:r>
            <a:r>
              <a:rPr lang="en-US" sz="1600" dirty="0"/>
              <a:t> calculates net gain for 1–4 week storage scenarios to advise optimal selling timing. </a:t>
            </a:r>
          </a:p>
          <a:p>
            <a:r>
              <a:rPr lang="en-US" sz="1600" b="1" dirty="0"/>
              <a:t>Quality Grading Agent</a:t>
            </a:r>
            <a:r>
              <a:rPr lang="en-US" sz="1600" dirty="0"/>
              <a:t> grades cotton/groundnut quality as Grade A/B/C from crop photos and farmer notes. </a:t>
            </a:r>
          </a:p>
          <a:p>
            <a:r>
              <a:rPr lang="en-US" sz="1600" dirty="0"/>
              <a:t>The Income Dashboard Agent </a:t>
            </a:r>
            <a:r>
              <a:rPr lang="en-US" sz="1600" b="1" dirty="0"/>
              <a:t>summarizes farmer earnings and inventory with AI insights. The React + Vite frontend</a:t>
            </a:r>
            <a:r>
              <a:rPr lang="en-US" sz="1600" dirty="0"/>
              <a:t> (built with </a:t>
            </a:r>
            <a:r>
              <a:rPr lang="en-US" sz="1600" dirty="0" err="1"/>
              <a:t>TailwindCSS</a:t>
            </a:r>
            <a:r>
              <a:rPr lang="en-US" sz="1600" dirty="0"/>
              <a:t>) provides bilingual (English + Gujarati) UI.</a:t>
            </a:r>
          </a:p>
          <a:p>
            <a:r>
              <a:rPr lang="en-US" sz="1600" dirty="0"/>
              <a:t>IBM Bob (</a:t>
            </a:r>
            <a:r>
              <a:rPr lang="en-US" sz="1600" dirty="0" err="1"/>
              <a:t>LangFlow</a:t>
            </a:r>
            <a:r>
              <a:rPr lang="en-US" sz="1600" dirty="0"/>
              <a:t>) orchestrates all agent workflows. The Node.js + Express backend with SQLite and JWT authentication provides secure, scalable APIs for all three portals.</a:t>
            </a:r>
          </a:p>
          <a:p>
            <a:r>
              <a:rPr lang="en-US" sz="1600" dirty="0"/>
              <a:t>Overall, this platform delivers an </a:t>
            </a:r>
            <a:r>
              <a:rPr lang="en-US" sz="1600" b="1" dirty="0"/>
              <a:t>end-to-end intelligent market linkage system</a:t>
            </a:r>
            <a:r>
              <a:rPr lang="en-US" sz="1600" dirty="0"/>
              <a:t> that eliminates information asymmetry and gives Gujarat farmers real bargaining power.</a:t>
            </a:r>
          </a:p>
          <a:p>
            <a:pPr fontAlgn="base"/>
            <a:endParaRPr lang="en-US" sz="1600" dirty="0"/>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46575" y="438617"/>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24741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IBM Bob (LangFlow)</a:t>
            </a:r>
            <a:r>
              <a:rPr lang="en-US" sz="1800" b="1" dirty="0"/>
              <a:t> </a:t>
            </a:r>
            <a:r>
              <a:rPr lang="en-US" sz="1800" dirty="0"/>
              <a:t>– Visual multi-agent workflow designer used to orchestrate all 5 AI agents in the CGM platform</a:t>
            </a:r>
          </a:p>
          <a:p>
            <a:endParaRPr lang="en-US" sz="1800" dirty="0"/>
          </a:p>
          <a:p>
            <a:pPr marL="285750" indent="-285750">
              <a:buFont typeface="Arial" panose="020B0604020202020204" pitchFamily="34" charset="0"/>
              <a:buChar char="•"/>
            </a:pPr>
            <a:r>
              <a:rPr lang="en-US" sz="1800" b="1" dirty="0"/>
              <a:t>IBM Granite LLM </a:t>
            </a:r>
            <a:r>
              <a:rPr lang="en-US" sz="1800" dirty="0"/>
              <a:t>– </a:t>
            </a:r>
            <a:r>
              <a:rPr lang="en-US" sz="1800" dirty="0" err="1"/>
              <a:t>Model used</a:t>
            </a:r>
            <a:r>
              <a:rPr lang="en-US" sz="1800" dirty="0"/>
              <a:t>: ibm-granite-3-2-8b-instruct – Powers price forecasting, buyer-farmer matching, quality grading, storage advice, and income insights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Provides infrastructure to deploy and scale the CGM platform. Enables a </a:t>
            </a:r>
            <a:r>
              <a:rPr lang="en-US" sz="1800" b="1" dirty="0"/>
              <a:t>reliable, secure, and scalable environment</a:t>
            </a:r>
            <a:r>
              <a:rPr lang="en-US" sz="1800" dirty="0"/>
              <a:t> for the Node.js backend, React frontend, and all AI agent services.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Node.js + Express + SQLite – Backend API with JWT authentication, serving Farmer, Buyer, and Admin portals with secure, role-based data access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React + Vite + </a:t>
            </a:r>
            <a:r>
              <a:rPr lang="en-US" sz="1800" b="1" dirty="0" err="1"/>
              <a:t>TailwindCSS</a:t>
            </a:r>
            <a:r>
              <a:rPr lang="en-US" sz="1800" b="1" dirty="0"/>
              <a:t> – </a:t>
            </a:r>
            <a:r>
              <a:rPr lang="en-US" sz="1800" dirty="0"/>
              <a:t>Bilingual (English + Gujarati) frontend with live mandi price charts, AI forecast panels, and farmer income dashboards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GitHub </a:t>
            </a:r>
            <a:r>
              <a:rPr lang="en-IN" sz="1800" dirty="0"/>
              <a:t>– Public repository:</a:t>
            </a:r>
            <a:r>
              <a:rPr lang="en-US" sz="1800" dirty="0">
                <a:solidFill>
                  <a:srgbClr val="2B3541"/>
                </a:solidFill>
                <a:latin typeface="Times New Roman"/>
                <a:ea typeface="Times New Roman"/>
                <a:cs typeface="Times New Roman"/>
                <a:sym typeface="Times New Roman"/>
                <a:hlinkClick r:id="rId3"/>
              </a:rPr>
              <a:t>https://github.com/vedpatel-builds/cgm-gujarat-platform</a:t>
            </a:r>
            <a:endParaRPr lang="en-US" sz="1800" dirty="0">
              <a:solidFill>
                <a:srgbClr val="2B3541"/>
              </a:solidFill>
              <a:latin typeface="Times New Roman"/>
              <a:ea typeface="Times New Roman"/>
              <a:cs typeface="Times New Roman"/>
            </a:endParaRP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89" y="323239"/>
            <a:ext cx="7279055"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IBM Bob (</a:t>
            </a:r>
            <a:r>
              <a:rPr lang="en-US" sz="2800" b="1" dirty="0" err="1">
                <a:sym typeface="Times New Roman"/>
              </a:rPr>
              <a:t>LangFlow</a:t>
            </a:r>
            <a:r>
              <a:rPr lang="en-US" sz="2800" b="1" dirty="0">
                <a:sym typeface="Times New Roman"/>
              </a:rPr>
              <a:t>)</a:t>
            </a:r>
            <a:r>
              <a:rPr lang="en-US" sz="36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678751"/>
          </a:xfrm>
          <a:prstGeom prst="rect">
            <a:avLst/>
          </a:prstGeom>
          <a:noFill/>
        </p:spPr>
        <p:txBody>
          <a:bodyPr wrap="square" rtlCol="0">
            <a:spAutoFit/>
          </a:bodyPr>
          <a:lstStyle/>
          <a:p>
            <a:endParaRPr lang="en-US" sz="1600" dirty="0"/>
          </a:p>
          <a:p>
            <a:r>
              <a:rPr lang="en-US" sz="1600" b="1" dirty="0"/>
              <a:t>1) Chat Input </a:t>
            </a:r>
            <a:r>
              <a:rPr lang="en-US" sz="1600" dirty="0"/>
              <a:t>– Entry point where farmers and buyers submit queries, crop data, or price lookup requests.</a:t>
            </a:r>
          </a:p>
          <a:p>
            <a:endParaRPr lang="en-US" sz="1600" dirty="0"/>
          </a:p>
          <a:p>
            <a:r>
              <a:rPr lang="en-US" sz="1600" b="1" dirty="0"/>
              <a:t>2) IBM watsonx.ai AI Agent </a:t>
            </a:r>
            <a:r>
              <a:rPr lang="en-US" sz="1600" dirty="0"/>
              <a:t>– Routes requests to the appropriate specialized agent (forecasting, matching, grading, storage, or income) using IBM Granite LLM.</a:t>
            </a:r>
          </a:p>
          <a:p>
            <a:endParaRPr lang="en-US" sz="1600" dirty="0"/>
          </a:p>
          <a:p>
            <a:r>
              <a:rPr lang="en-US" sz="1600" b="1" dirty="0"/>
              <a:t>3) IBM Granite Model Used – </a:t>
            </a:r>
            <a:r>
              <a:rPr lang="en-US" sz="1600" dirty="0"/>
              <a:t>ibm-granite-3-2-8b-instruct → Powers all 5 agents for reasoning, price prediction, quality grading, and market matching</a:t>
            </a:r>
          </a:p>
          <a:p>
            <a:endParaRPr lang="en-US" sz="1600" dirty="0"/>
          </a:p>
          <a:p>
            <a:r>
              <a:rPr lang="en-US" sz="1600" b="1" dirty="0"/>
              <a:t>4) Chat Output –</a:t>
            </a:r>
            <a:r>
              <a:rPr lang="en-US" sz="1600" dirty="0"/>
              <a:t>Returns AI-generated responses: mandi price forecasts, matched buyer lists, quality grades, storage recommendations, or income summaries.</a:t>
            </a:r>
          </a:p>
          <a:p>
            <a:endParaRPr lang="en-US" sz="1600" dirty="0"/>
          </a:p>
          <a:p>
            <a:r>
              <a:rPr lang="en-US" sz="1600" b="1" dirty="0"/>
              <a:t>5) API / Tool Component – </a:t>
            </a:r>
            <a:r>
              <a:rPr lang="en-US" sz="1600" dirty="0"/>
              <a:t>Calls backend Node.js REST APIs to fetch real-time mandi prices, crop listings, buyer requirements, and transaction data from SQLite database.</a:t>
            </a:r>
          </a:p>
          <a:p>
            <a:endParaRPr lang="en-US" sz="1600" dirty="0"/>
          </a:p>
          <a:p>
            <a:r>
              <a:rPr lang="en-US" sz="1600" dirty="0"/>
              <a:t>6) </a:t>
            </a:r>
            <a:r>
              <a:rPr lang="en-US" sz="1600" b="1" dirty="0"/>
              <a:t>Conditional Router Component </a:t>
            </a:r>
            <a:r>
              <a:rPr lang="en-US" sz="1600" dirty="0"/>
              <a:t>– Directs agent flow based on user role (Farmer / Buyer / Admin) and query type to the correct specialized AI agent pipeline.</a:t>
            </a:r>
          </a:p>
          <a:p>
            <a:pPr marL="342900" indent="-342900">
              <a:buAutoNum type="arabicParenR" startAt="3"/>
            </a:pPr>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 </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a:extLst>
              <a:ext uri="{FF2B5EF4-FFF2-40B4-BE49-F238E27FC236}">
                <a16:creationId xmlns:a16="http://schemas.microsoft.com/office/drawing/2014/main" id="{69A0E637-42D7-B8EF-9D3E-17DFACE2E935}"/>
              </a:ext>
            </a:extLst>
          </p:cNvPr>
          <p:cNvPicPr>
            <a:picLocks noChangeAspect="1"/>
          </p:cNvPicPr>
          <p:nvPr/>
        </p:nvPicPr>
        <p:blipFill>
          <a:blip r:embed="rId3"/>
          <a:stretch>
            <a:fillRect/>
          </a:stretch>
        </p:blipFill>
        <p:spPr>
          <a:xfrm>
            <a:off x="637505" y="790468"/>
            <a:ext cx="10916991" cy="527706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3" name="Picture 2">
            <a:extLst>
              <a:ext uri="{FF2B5EF4-FFF2-40B4-BE49-F238E27FC236}">
                <a16:creationId xmlns:a16="http://schemas.microsoft.com/office/drawing/2014/main" id="{85AA6966-5E0C-28E5-EF9D-562AAF3E1584}"/>
              </a:ext>
            </a:extLst>
          </p:cNvPr>
          <p:cNvPicPr>
            <a:picLocks noChangeAspect="1"/>
          </p:cNvPicPr>
          <p:nvPr/>
        </p:nvPicPr>
        <p:blipFill>
          <a:blip r:embed="rId3"/>
          <a:stretch>
            <a:fillRect/>
          </a:stretch>
        </p:blipFill>
        <p:spPr>
          <a:xfrm>
            <a:off x="1061882" y="609600"/>
            <a:ext cx="9753600" cy="5257800"/>
          </a:xfrm>
          <a:prstGeom prst="rect">
            <a:avLst/>
          </a:prstGeom>
        </p:spPr>
      </p:pic>
      <p:sp>
        <p:nvSpPr>
          <p:cNvPr id="4" name="Google Shape;135;p5">
            <a:extLst>
              <a:ext uri="{FF2B5EF4-FFF2-40B4-BE49-F238E27FC236}">
                <a16:creationId xmlns:a16="http://schemas.microsoft.com/office/drawing/2014/main" id="{78578745-3233-E2C4-2AF4-55BA57C68D3F}"/>
              </a:ext>
            </a:extLst>
          </p:cNvPr>
          <p:cNvSpPr/>
          <p:nvPr/>
        </p:nvSpPr>
        <p:spPr>
          <a:xfrm>
            <a:off x="934065" y="105697"/>
            <a:ext cx="8116399" cy="39574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CGM Gujarat Platform</a:t>
            </a:r>
          </a:p>
          <a:p>
            <a:r>
              <a:rPr lang="en-US" b="1" dirty="0"/>
              <a:t>Agentic AI</a:t>
            </a:r>
            <a:r>
              <a:rPr lang="en-US" dirty="0"/>
              <a:t> enables the CGM Gujarat Platform to function as an intelligent, autonomous market intelligence system rather than a static price-lookup tool. Using </a:t>
            </a:r>
            <a:r>
              <a:rPr lang="en-US" b="1" dirty="0"/>
              <a:t>IBM Bob (</a:t>
            </a:r>
            <a:r>
              <a:rPr lang="en-US" b="1" dirty="0" err="1"/>
              <a:t>LangFlow</a:t>
            </a:r>
            <a:r>
              <a:rPr lang="en-US" b="1" dirty="0"/>
              <a:t>)</a:t>
            </a:r>
            <a:r>
              <a:rPr lang="en-US" dirty="0"/>
              <a:t> and </a:t>
            </a:r>
            <a:r>
              <a:rPr lang="en-US" b="1" dirty="0"/>
              <a:t>IBM Granite LLM</a:t>
            </a:r>
            <a:r>
              <a:rPr lang="en-US" dirty="0"/>
              <a:t>, it coordinates five specialized agents to deliver real-time market intelligence and direct farmer-buyer connections.</a:t>
            </a:r>
          </a:p>
          <a:p>
            <a:r>
              <a:rPr lang="en-US" dirty="0"/>
              <a:t>Each agent performs a specific role—such as forecasting mandi prices, matching buyers with farmers, grading crop quality, advising on storage, and generating income insights—while working collaboratively. This </a:t>
            </a:r>
            <a:r>
              <a:rPr lang="en-US" b="1" dirty="0"/>
              <a:t>multi-agent approach</a:t>
            </a:r>
            <a:r>
              <a:rPr lang="en-US" dirty="0"/>
              <a:t> ensures efficient task routing and accurate, context-aware market recommendations.</a:t>
            </a:r>
          </a:p>
          <a:p>
            <a:r>
              <a:rPr lang="en-US" dirty="0"/>
              <a:t>Agentic AI also brings </a:t>
            </a:r>
            <a:r>
              <a:rPr lang="en-US" b="1" dirty="0"/>
              <a:t>context awareness</a:t>
            </a:r>
            <a:r>
              <a:rPr lang="en-US" dirty="0"/>
              <a:t>, understanding farmer details like crop type, quantity, quality grade, and location to generate tailored market recommendations. It supports </a:t>
            </a:r>
            <a:r>
              <a:rPr lang="en-US" b="1" dirty="0"/>
              <a:t>real-time adaptation</a:t>
            </a:r>
            <a:r>
              <a:rPr lang="en-US" dirty="0"/>
              <a:t>, continuously updating forecasts and recommendations based on live mandi price data and buyer activity.</a:t>
            </a:r>
          </a:p>
          <a:p>
            <a:r>
              <a:rPr lang="en-US" dirty="0"/>
              <a:t>Additionally, agents communicate with each other—for example, the quality grading result feeds into the matching agent to improve buyer-farmer compatibility scores.</a:t>
            </a:r>
          </a:p>
          <a:p>
            <a:r>
              <a:rPr lang="en-US" dirty="0"/>
              <a:t>Overall, Agentic AI makes the platform proactive, personalized, and goal-driven, acting like a </a:t>
            </a:r>
            <a:r>
              <a:rPr lang="en-US" b="1" dirty="0"/>
              <a:t>smart digital market advisor</a:t>
            </a:r>
            <a:r>
              <a:rPr lang="en-US" dirty="0"/>
              <a:t> that empowers Gujarat farmers to negotiate better prices and access direct buyers.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476E9EF5-D14C-5152-3310-5E16A1A05978}"/>
              </a:ext>
            </a:extLst>
          </p:cNvPr>
          <p:cNvPicPr>
            <a:picLocks noChangeAspect="1"/>
          </p:cNvPicPr>
          <p:nvPr/>
        </p:nvPicPr>
        <p:blipFill>
          <a:blip r:embed="rId3"/>
          <a:stretch>
            <a:fillRect/>
          </a:stretch>
        </p:blipFill>
        <p:spPr>
          <a:xfrm>
            <a:off x="609600" y="2486334"/>
            <a:ext cx="4965290" cy="2341305"/>
          </a:xfrm>
          <a:prstGeom prst="rect">
            <a:avLst/>
          </a:prstGeom>
        </p:spPr>
      </p:pic>
      <p:pic>
        <p:nvPicPr>
          <p:cNvPr id="6" name="Picture 5">
            <a:extLst>
              <a:ext uri="{FF2B5EF4-FFF2-40B4-BE49-F238E27FC236}">
                <a16:creationId xmlns:a16="http://schemas.microsoft.com/office/drawing/2014/main" id="{BEBB9B72-8E8C-D2E2-0738-76C420F8637D}"/>
              </a:ext>
            </a:extLst>
          </p:cNvPr>
          <p:cNvPicPr>
            <a:picLocks noChangeAspect="1"/>
          </p:cNvPicPr>
          <p:nvPr/>
        </p:nvPicPr>
        <p:blipFill>
          <a:blip r:embed="rId4"/>
          <a:stretch>
            <a:fillRect/>
          </a:stretch>
        </p:blipFill>
        <p:spPr>
          <a:xfrm>
            <a:off x="7020231" y="2486334"/>
            <a:ext cx="4159045" cy="2341305"/>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CGM Gujarat Platform stands out by combining </a:t>
            </a:r>
            <a:r>
              <a:rPr lang="en-IN" sz="1800" b="1" dirty="0"/>
              <a:t>Agentic AI, real-time market data, and bilingual accessibility</a:t>
            </a:r>
            <a:r>
              <a:rPr lang="en-IN" sz="1800" dirty="0"/>
              <a:t> into a single intelligent market linkage system.</a:t>
            </a:r>
          </a:p>
          <a:p>
            <a:endParaRPr lang="en-IN" sz="1800" dirty="0"/>
          </a:p>
          <a:p>
            <a:r>
              <a:rPr lang="en-IN" sz="1800" b="1" dirty="0"/>
              <a:t>Multi-Agent Intelligence</a:t>
            </a:r>
            <a:r>
              <a:rPr lang="en-IN" sz="1800" dirty="0"/>
              <a:t> – Five specialized IBM Granite agents collaborate: price forecasting, buyer-farmer matching, quality grading, storage advice, and income dashboard. </a:t>
            </a:r>
          </a:p>
          <a:p>
            <a:r>
              <a:rPr lang="en-IN" sz="1800" b="1" dirty="0"/>
              <a:t>Direct Market Linkage</a:t>
            </a:r>
            <a:r>
              <a:rPr lang="en-IN" sz="1800" dirty="0"/>
              <a:t> – Eliminates middlemen by directly connecting farmers with buyers through AI-scored compatibility matching. </a:t>
            </a:r>
          </a:p>
          <a:p>
            <a:r>
              <a:rPr lang="en-IN" sz="1800" b="1" dirty="0"/>
              <a:t>Bilingual &amp; Inclusive</a:t>
            </a:r>
            <a:r>
              <a:rPr lang="en-IN" sz="1800" dirty="0"/>
              <a:t> – Full English + Gujarati (</a:t>
            </a:r>
            <a:r>
              <a:rPr lang="en-IN" sz="1800" dirty="0" err="1"/>
              <a:t>ગુજરાતી</a:t>
            </a:r>
            <a:r>
              <a:rPr lang="en-IN" sz="1800" dirty="0"/>
              <a:t>) UI ensures accessibility for rural farmers with limited English literacy. </a:t>
            </a:r>
          </a:p>
          <a:p>
            <a:r>
              <a:rPr lang="en-IN" sz="1800" b="1" dirty="0"/>
              <a:t>Real-Time Price Intelligence</a:t>
            </a:r>
            <a:r>
              <a:rPr lang="en-IN" sz="1800" dirty="0"/>
              <a:t> – Live mandi price charts with 30-day history and 7-day AI forecasts give farmers market foresight. </a:t>
            </a:r>
          </a:p>
          <a:p>
            <a:r>
              <a:rPr lang="en-IN" sz="1800" b="1" dirty="0"/>
              <a:t>AI Quality Grading</a:t>
            </a:r>
            <a:r>
              <a:rPr lang="en-IN" sz="1800" dirty="0"/>
              <a:t> – Farmers upload crop photos for instant AI-powered Grade A/B/C quality assessment before listing. </a:t>
            </a:r>
          </a:p>
          <a:p>
            <a:r>
              <a:rPr lang="en-IN" sz="1800" b="1" dirty="0"/>
              <a:t>Fallback Mock Mode</a:t>
            </a:r>
            <a:r>
              <a:rPr lang="en-IN" sz="1800" dirty="0"/>
              <a:t> – All AI agents automatically fall back to deterministic mock mode when IBM credentials are not configured, ensuring reliable hackathon demos. </a:t>
            </a:r>
          </a:p>
          <a:p>
            <a:r>
              <a:rPr lang="en-IN" sz="1800" b="1" dirty="0"/>
              <a:t>Full-Stack &amp; Deployable</a:t>
            </a:r>
            <a:r>
              <a:rPr lang="en-IN" sz="1800" dirty="0"/>
              <a:t> – Complete Node.js backend + React frontend deployable on </a:t>
            </a:r>
            <a:r>
              <a:rPr lang="en-IN" sz="1800" b="1" dirty="0"/>
              <a:t>IBM Cloud</a:t>
            </a:r>
            <a:r>
              <a:rPr lang="en-IN" sz="1800" dirty="0"/>
              <a:t> with JWT auth, SQLite, and all </a:t>
            </a:r>
            <a:r>
              <a:rPr lang="en-IN" sz="1800" b="1" dirty="0"/>
              <a:t>IBM Granite agents</a:t>
            </a:r>
            <a:r>
              <a:rPr lang="en-IN" sz="1800" dirty="0"/>
              <a:t> production-ready. </a:t>
            </a:r>
          </a:p>
          <a:p>
            <a:endParaRPr lang="en-IN" sz="1800" dirty="0"/>
          </a:p>
          <a:p>
            <a:r>
              <a:rPr lang="en-IN" sz="1800" dirty="0"/>
              <a:t>This makes the platform a </a:t>
            </a:r>
            <a:r>
              <a:rPr lang="en-IN" sz="1800" b="1" dirty="0"/>
              <a:t>smart, adaptive, and proactive digital market intelligence system</a:t>
            </a:r>
            <a:r>
              <a:rPr lang="en-IN" sz="1800" dirty="0"/>
              <a:t>, not just a static price-lookup board.</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GitHub Repository (Public): </a:t>
            </a:r>
          </a:p>
          <a:p>
            <a:pPr>
              <a:lnSpc>
                <a:spcPct val="162162"/>
              </a:lnSpc>
              <a:buClr>
                <a:srgbClr val="2B3541"/>
              </a:buClr>
              <a:buSzPts val="1850"/>
            </a:pPr>
            <a:r>
              <a:rPr lang="en-US" sz="1850" b="1" dirty="0">
                <a:solidFill>
                  <a:schemeClr val="tx1"/>
                </a:solidFill>
                <a:latin typeface="Times New Roman"/>
                <a:ea typeface="Times New Roman"/>
                <a:cs typeface="Times New Roman"/>
                <a:sym typeface="Times New Roman"/>
              </a:rPr>
              <a:t>Repository contains: </a:t>
            </a:r>
            <a:r>
              <a:rPr lang="en-US" sz="1850" dirty="0">
                <a:solidFill>
                  <a:srgbClr val="2B3541"/>
                </a:solidFill>
                <a:latin typeface="Times New Roman"/>
                <a:ea typeface="Times New Roman"/>
                <a:cs typeface="Times New Roman"/>
                <a:sym typeface="Times New Roman"/>
                <a:hlinkClick r:id="rId3"/>
              </a:rPr>
              <a:t>https://github.com/vedpatel-builds/cgm-gujarat-platform</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br>
              <a:rPr lang="en-US" sz="1850" dirty="0">
                <a:solidFill>
                  <a:schemeClr val="tx1"/>
                </a:solidFill>
                <a:latin typeface="Times New Roman"/>
                <a:ea typeface="Times New Roman"/>
                <a:cs typeface="Times New Roman"/>
              </a:rPr>
            </a:br>
            <a:r>
              <a:rPr lang="en-US" sz="1850" dirty="0">
                <a:solidFill>
                  <a:schemeClr val="tx1"/>
                </a:solidFill>
                <a:latin typeface="Times New Roman"/>
                <a:ea typeface="Times New Roman"/>
                <a:cs typeface="Times New Roman"/>
                <a:sym typeface="Times New Roman"/>
              </a:rPr>
              <a:t>app.json, problem statement PDF, project PPTX, full Node.js backend, React + Vite + TailwindCSS frontend, 5 IBM Granite AI agent files, and README with setup + IBM Cloud deployment guide.</a:t>
            </a:r>
            <a:endParaRPr lang="en-US" sz="1850" dirty="0">
              <a:solidFill>
                <a:schemeClr val="tx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chemeClr val="tx1"/>
                </a:solidFill>
                <a:latin typeface="Times New Roman"/>
                <a:ea typeface="Times New Roman"/>
                <a:cs typeface="Times New Roman"/>
                <a:sym typeface="Times New Roman"/>
              </a:rPr>
              <a:t>1. SMS &amp; WhatsApp Alerts for Price Drops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Integrate SMS and WhatsApp notifications so that farmers receive instant alerts when mandi prices cross a target threshold. This ensures farmers without smartphones or internet access still benefit from AI-driven price intelligence.</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chemeClr val="tx1"/>
                </a:solidFill>
                <a:latin typeface="Times New Roman"/>
                <a:ea typeface="Times New Roman"/>
                <a:cs typeface="Times New Roman"/>
                <a:sym typeface="Times New Roman"/>
              </a:rPr>
              <a:t>2.</a:t>
            </a:r>
            <a:r>
              <a:rPr lang="en-US" sz="1850" b="1" i="0" u="none" strike="noStrike" cap="none" dirty="0">
                <a:solidFill>
                  <a:schemeClr val="tx1"/>
                </a:solidFill>
                <a:latin typeface="Times New Roman"/>
                <a:ea typeface="Times New Roman"/>
                <a:cs typeface="Times New Roman"/>
                <a:sym typeface="Times New Roman"/>
              </a:rPr>
              <a:t>Voice Assistant in Gujarati </a:t>
            </a:r>
            <a:r>
              <a:rPr lang="en-US" sz="1850" b="0" i="0" u="none" strike="noStrike" cap="none" dirty="0">
                <a:solidFill>
                  <a:schemeClr val="tx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Add a Gujarati-language voice assistant powered by IBM Granite so that farmers can query mandi prices, list crops, and receive recommendations entirely through voice. This dramatically improves accessibility for rural farmers with low digital literacy.</a:t>
            </a:r>
            <a:endParaRPr sz="1850" b="0" i="0" u="none" strike="noStrike" cap="none" dirty="0">
              <a:solidFill>
                <a:schemeClr val="tx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96045455-4700-7640-F0C8-6286E34F870F}"/>
              </a:ext>
            </a:extLst>
          </p:cNvPr>
          <p:cNvPicPr>
            <a:picLocks noChangeAspect="1"/>
          </p:cNvPicPr>
          <p:nvPr/>
        </p:nvPicPr>
        <p:blipFill>
          <a:blip r:embed="rId2"/>
          <a:stretch>
            <a:fillRect/>
          </a:stretch>
        </p:blipFill>
        <p:spPr>
          <a:xfrm>
            <a:off x="2615382" y="727487"/>
            <a:ext cx="7385482" cy="573230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a:extLst>
              <a:ext uri="{FF2B5EF4-FFF2-40B4-BE49-F238E27FC236}">
                <a16:creationId xmlns:a16="http://schemas.microsoft.com/office/drawing/2014/main" id="{C64D0C01-7D33-A2BB-F6DF-E4A5DE149E8D}"/>
              </a:ext>
            </a:extLst>
          </p:cNvPr>
          <p:cNvPicPr>
            <a:picLocks noChangeAspect="1"/>
          </p:cNvPicPr>
          <p:nvPr/>
        </p:nvPicPr>
        <p:blipFill>
          <a:blip r:embed="rId2"/>
          <a:stretch>
            <a:fillRect/>
          </a:stretch>
        </p:blipFill>
        <p:spPr>
          <a:xfrm>
            <a:off x="1992274" y="906561"/>
            <a:ext cx="8207451" cy="504487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1507</Words>
  <Application>Microsoft Office PowerPoint</Application>
  <PresentationFormat>Widescreen</PresentationFormat>
  <Paragraphs>124</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Ved Patel</dc:creator>
  <cp:lastModifiedBy>Ved Patel</cp:lastModifiedBy>
  <cp:revision>18</cp:revision>
  <dcterms:created xsi:type="dcterms:W3CDTF">2025-07-08T05:06:56Z</dcterms:created>
  <dcterms:modified xsi:type="dcterms:W3CDTF">2026-09-12T15:53:23Z</dcterms:modified>
</cp:coreProperties>
</file>